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e8be975c8743b5" /><Relationship Type="http://schemas.openxmlformats.org/officeDocument/2006/relationships/extended-properties" Target="/docProps/app.xml" Id="R6ea33f9dd06f4d3a" /><Relationship Type="http://schemas.openxmlformats.org/officeDocument/2006/relationships/officeDocument" Target="/ppt/presentation.xml" Id="R4a784d7cc6b147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daa29821d44188"/>
  </p:sldMasterIdLst>
  <p:notesMasterIdLst>
    <p:notesMasterId xmlns:r="http://schemas.openxmlformats.org/officeDocument/2006/relationships" r:id="Rfe794a647d2d460d"/>
  </p:notesMasterIdLst>
  <p:sldIdLst>
    <p:sldId xmlns:r="http://schemas.openxmlformats.org/officeDocument/2006/relationships" id="256" r:id="R3ac61e54a1ec4dde"/>
    <p:sldId xmlns:r="http://schemas.openxmlformats.org/officeDocument/2006/relationships" id="257" r:id="R40e06be5df1b4bab"/>
    <p:sldId xmlns:r="http://schemas.openxmlformats.org/officeDocument/2006/relationships" id="258" r:id="R190b89dc8ca2423e"/>
    <p:sldId xmlns:r="http://schemas.openxmlformats.org/officeDocument/2006/relationships" id="259" r:id="Red6641cfc98b4995"/>
    <p:sldId xmlns:r="http://schemas.openxmlformats.org/officeDocument/2006/relationships" id="260" r:id="R8c40e60c201c4c48"/>
    <p:sldId xmlns:r="http://schemas.openxmlformats.org/officeDocument/2006/relationships" id="261" r:id="R182fe1fd7c1f413d"/>
    <p:sldId xmlns:r="http://schemas.openxmlformats.org/officeDocument/2006/relationships" id="262" r:id="R972fcab7989d4213"/>
    <p:sldId xmlns:r="http://schemas.openxmlformats.org/officeDocument/2006/relationships" id="263" r:id="Rb9e9a1fa745e4759"/>
    <p:sldId xmlns:r="http://schemas.openxmlformats.org/officeDocument/2006/relationships" id="264" r:id="R8340cb2488e34423"/>
    <p:sldId xmlns:r="http://schemas.openxmlformats.org/officeDocument/2006/relationships" id="265" r:id="R5e2e1724d18c468d"/>
    <p:sldId xmlns:r="http://schemas.openxmlformats.org/officeDocument/2006/relationships" id="266" r:id="R42ab5a0df3b6466d"/>
    <p:sldId xmlns:r="http://schemas.openxmlformats.org/officeDocument/2006/relationships" id="267" r:id="Rfa143aa02373455c"/>
    <p:sldId xmlns:r="http://schemas.openxmlformats.org/officeDocument/2006/relationships" id="268" r:id="R6cf77f4f4b6e4783"/>
    <p:sldId xmlns:r="http://schemas.openxmlformats.org/officeDocument/2006/relationships" id="269" r:id="R7186853e30144046"/>
    <p:sldId xmlns:r="http://schemas.openxmlformats.org/officeDocument/2006/relationships" id="270" r:id="R342be541c6584a3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9cbec60c5e4d0c" /><Relationship Type="http://schemas.openxmlformats.org/officeDocument/2006/relationships/slideMaster" Target="/ppt/slideMasters/slideMaster1.xml" Id="R32daa29821d44188" /><Relationship Type="http://schemas.openxmlformats.org/officeDocument/2006/relationships/notesMaster" Target="/ppt/notesMasters/notesMaster1.xml" Id="Rfe794a647d2d460d" /><Relationship Type="http://schemas.openxmlformats.org/officeDocument/2006/relationships/presProps" Target="/ppt/presProps.xml" Id="R9050d0c0a7b44e46" /><Relationship Type="http://schemas.openxmlformats.org/officeDocument/2006/relationships/tableStyles" Target="/ppt/tableStyles.xml" Id="R47bcf38694eb40f8" /><Relationship Type="http://schemas.openxmlformats.org/officeDocument/2006/relationships/slide" Target="/ppt/slides/slide1.xml" Id="R3ac61e54a1ec4dde" /><Relationship Type="http://schemas.openxmlformats.org/officeDocument/2006/relationships/slide" Target="/ppt/slides/slide2.xml" Id="R40e06be5df1b4bab" /><Relationship Type="http://schemas.openxmlformats.org/officeDocument/2006/relationships/slide" Target="/ppt/slides/slide3.xml" Id="R190b89dc8ca2423e" /><Relationship Type="http://schemas.openxmlformats.org/officeDocument/2006/relationships/slide" Target="/ppt/slides/slide4.xml" Id="Red6641cfc98b4995" /><Relationship Type="http://schemas.openxmlformats.org/officeDocument/2006/relationships/slide" Target="/ppt/slides/slide5.xml" Id="R8c40e60c201c4c48" /><Relationship Type="http://schemas.openxmlformats.org/officeDocument/2006/relationships/slide" Target="/ppt/slides/slide6.xml" Id="R182fe1fd7c1f413d" /><Relationship Type="http://schemas.openxmlformats.org/officeDocument/2006/relationships/slide" Target="/ppt/slides/slide7.xml" Id="R972fcab7989d4213" /><Relationship Type="http://schemas.openxmlformats.org/officeDocument/2006/relationships/slide" Target="/ppt/slides/slide8.xml" Id="Rb9e9a1fa745e4759" /><Relationship Type="http://schemas.openxmlformats.org/officeDocument/2006/relationships/slide" Target="/ppt/slides/slide9.xml" Id="R8340cb2488e34423" /><Relationship Type="http://schemas.openxmlformats.org/officeDocument/2006/relationships/slide" Target="/ppt/slides/slide10.xml" Id="R5e2e1724d18c468d" /><Relationship Type="http://schemas.openxmlformats.org/officeDocument/2006/relationships/slide" Target="/ppt/slides/slide11.xml" Id="R42ab5a0df3b6466d" /><Relationship Type="http://schemas.openxmlformats.org/officeDocument/2006/relationships/slide" Target="/ppt/slides/slide12.xml" Id="Rfa143aa02373455c" /><Relationship Type="http://schemas.openxmlformats.org/officeDocument/2006/relationships/slide" Target="/ppt/slides/slide13.xml" Id="R6cf77f4f4b6e4783" /><Relationship Type="http://schemas.openxmlformats.org/officeDocument/2006/relationships/slide" Target="/ppt/slides/slide14.xml" Id="R7186853e30144046" /><Relationship Type="http://schemas.openxmlformats.org/officeDocument/2006/relationships/slide" Target="/ppt/slides/slide15.xml" Id="R342be541c6584a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54c3590daf49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2ecd44d6724e53" /><Relationship Type="http://schemas.openxmlformats.org/officeDocument/2006/relationships/notesMaster" Target="/ppt/notesMasters/notesMaster1.xml" Id="R355c403cbd914c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e0ded545864d9b" /><Relationship Type="http://schemas.openxmlformats.org/officeDocument/2006/relationships/notesMaster" Target="/ppt/notesMasters/notesMaster1.xml" Id="Rf92bda2eb0a846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31723d37424dba" /><Relationship Type="http://schemas.openxmlformats.org/officeDocument/2006/relationships/notesMaster" Target="/ppt/notesMasters/notesMaster1.xml" Id="R4c0e4d3a81524c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b4a855b8614cd9" /><Relationship Type="http://schemas.openxmlformats.org/officeDocument/2006/relationships/notesMaster" Target="/ppt/notesMasters/notesMaster1.xml" Id="R05e74931b52f40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411e0c631c4e80" /><Relationship Type="http://schemas.openxmlformats.org/officeDocument/2006/relationships/notesMaster" Target="/ppt/notesMasters/notesMaster1.xml" Id="R3d5ef5d4c41c49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fc4f31c9be4093" /><Relationship Type="http://schemas.openxmlformats.org/officeDocument/2006/relationships/notesMaster" Target="/ppt/notesMasters/notesMaster1.xml" Id="R7546b37694d54f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2183c173444925" /><Relationship Type="http://schemas.openxmlformats.org/officeDocument/2006/relationships/notesMaster" Target="/ppt/notesMasters/notesMaster1.xml" Id="R897d138c3ebe44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f4b6ed2caf43e5" /><Relationship Type="http://schemas.openxmlformats.org/officeDocument/2006/relationships/notesMaster" Target="/ppt/notesMasters/notesMaster1.xml" Id="R68798973a00240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445517855c4634" /><Relationship Type="http://schemas.openxmlformats.org/officeDocument/2006/relationships/notesMaster" Target="/ppt/notesMasters/notesMaster1.xml" Id="R5fa25e4e489b43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08157c25d04f9f" /><Relationship Type="http://schemas.openxmlformats.org/officeDocument/2006/relationships/notesMaster" Target="/ppt/notesMasters/notesMaster1.xml" Id="R1cb44ccd708f44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c4227d86184aeb" /><Relationship Type="http://schemas.openxmlformats.org/officeDocument/2006/relationships/notesMaster" Target="/ppt/notesMasters/notesMaster1.xml" Id="R8256e7ad417047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ab519db8e546aa" /><Relationship Type="http://schemas.openxmlformats.org/officeDocument/2006/relationships/notesMaster" Target="/ppt/notesMasters/notesMaster1.xml" Id="R4820888255d24a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68ae5325504fdf" /><Relationship Type="http://schemas.openxmlformats.org/officeDocument/2006/relationships/notesMaster" Target="/ppt/notesMasters/notesMaster1.xml" Id="Rb69560a7203742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6cc7516099e4ddd" /><Relationship Type="http://schemas.openxmlformats.org/officeDocument/2006/relationships/notesMaster" Target="/ppt/notesMasters/notesMaster1.xml" Id="Ra8c868f005194e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3e9404589d34dc5" /><Relationship Type="http://schemas.openxmlformats.org/officeDocument/2006/relationships/notesMaster" Target="/ppt/notesMasters/notesMaster1.xml" Id="R0cd23957d8504d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영상을 올린 뒤 반응을 기다리는 대신, 올리기 전에 AI에게 먼저 보여주고 점검하는 연구입니다. 오늘은 육사TV 쇼츠 4편에 실제 적용한 결과와, 이 기술이 군 영상 제작에 어떤 도움을 줄 수 있는지를 말씀드리겠습니다.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지금은 영상을 게시한 뒤 조회수와 좋아요를 보고 판단합니다. 하지만 이 숫자만으로는 화면, 소리, 메시지 중 무엇을 고쳐야 하는지 알기 어렵습니다. 이번 연구는 그 판단 시점을 제작 앞으로 당겨, 업로드 전에 시안을 비교하고 수정 방향을 찾는 데 목적이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쉽게 말하면 TRIBE v2는 영상의 화면과 소리, 언어를 함께 읽고 어느 피질 영역에서 어떤 반응이 예상되는지를 지도로 바꾸는 모델입니다. 여기서 강조한 부분이 영상·음향·언어를 받아 예상 피질 반응을 산출하는 핵심 구조입니다.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공수훈련, 단체학과출장, 산타 봉사, 드론교실 네 편을 같은 조건으로 분석했습니다. 조회수가 높은 영상 두 편과 낮은 영상 두 편을 두고, 원본 수집부터 피질 지도와 6개 예상 반응 특성 산출까지 동일한 절차를 적용했습니다.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네 영상 모두에서 네 방향 피질 지도, 예상 반응 크기, 종합 반응 지표, 여섯 가지 예상 반응 특성을 같은 형식으로 얻었습니다. 이 형식이 같기 때문에 여러 후보 영상이나 수정 전후 시안을 눈으로 보고 수치로 바로 비교할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이번 네 편 비교에서 조회수가 높은 두 영상은 낮은 두 영상보다 평균 예상 반응 크기가 약 42퍼센트 높았습니다. 여섯 가지 특성을 합친 종합 반응 지표는 약 두 배였습니다. 조회수 차이가 피질 지도와 반응 특성에서도 같은 방향으로 나타난 결과입니다.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제작자가 전체 뇌 지도를 활용하기 쉽도록 여섯 가지 특성으로 정리했습니다. 화면을 더 살릴지, 음향을 보완할지, 인물과 공동체 메시지를 강화할지 판단할 때 각 특성의 상대적 차이를 비교할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네 편에서 끝난 분석이 아닙니다. 같은 방법을 KFN과 KFNplus 영상 240편으로 확장했습니다. 훈련, 전우애, 리더십, 병영생활 등 여덟 가지 콘텐츠 유형에 따라 여섯 가지 예상 반응 특성의 조합이 서로 다르게 나타났습니다.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분석을 제작 과정 앞단에 넣으면 복수 시안을 빠르게 비교할 수 있습니다. 담당자는 예상 반응 차이를 보면서 어느 장면과 음향, 메시지를 고칠지 결정하고 최종안을 전문가와 함께 검토할 수 있습니다. 정신전력교육부터 모집홍보와 국방홍보까지 같은 방식으로 적용할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이번 네 편 분석을 육군지에서 소개하고, 다음 단계에서는 KCI 논문으로 정신전력 영상 사전진단 절차를 정립합니다. 이후 더 많은 KFN과 해외 군 영상, YouTube Studio 성과자료를 연결한 SCI 연구로 발전시키겠습니다. 이를 위해 단계적 연구방향과 전문가 검토, 성과자료와 GPU 활용에 대한 지원이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질의응답 시 세부 결과를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 연구에서 새로운 영상에 적용한 성능 근거를 설명할 때 사용합니다.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영상, 음향, 언어가 함께 처리되는 다중모달 구조를 설명할 때 사용합니다.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질의응답 시 세부 결과를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질의응답 시 세부 결과를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f5eb6bb8db40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9a02f349d04efa" /><Relationship Type="http://schemas.openxmlformats.org/officeDocument/2006/relationships/slideLayout" Target="/ppt/slideLayouts/slideLayout1.xml" Id="R20186f5a27864c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186f5a27864c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697ea5a1c4c84" /><Relationship Type="http://schemas.openxmlformats.org/officeDocument/2006/relationships/image" Target="/ppt/media/image.jpeg" Id="Rd89f7d4d248048ef" /><Relationship Type="http://schemas.openxmlformats.org/officeDocument/2006/relationships/notesSlide" Target="/ppt/notesSlides/notesSlide1.xml" Id="R98544a33f61049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daa75e94244fd" /><Relationship Type="http://schemas.openxmlformats.org/officeDocument/2006/relationships/image" Target="/ppt/media/image2.jpeg" Id="R4b181ba577c44331" /><Relationship Type="http://schemas.openxmlformats.org/officeDocument/2006/relationships/notesSlide" Target="/ppt/notesSlides/notesSlide2.xml" Id="R698dc03fb3cb44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5fe3ac31e4078" /><Relationship Type="http://schemas.openxmlformats.org/officeDocument/2006/relationships/image" Target="/ppt/media/image.png" Id="R811857b97fa4454e" /><Relationship Type="http://schemas.openxmlformats.org/officeDocument/2006/relationships/notesSlide" Target="/ppt/notesSlides/notesSlide3.xml" Id="R25660a65673540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ec0f20a56474c" /><Relationship Type="http://schemas.openxmlformats.org/officeDocument/2006/relationships/image" Target="/ppt/media/image3.jpeg" Id="R67bad5f723914ea6" /><Relationship Type="http://schemas.openxmlformats.org/officeDocument/2006/relationships/image" Target="/ppt/media/image4.jpeg" Id="Re5a7b3860d204da2" /><Relationship Type="http://schemas.openxmlformats.org/officeDocument/2006/relationships/image" Target="/ppt/media/image5.jpeg" Id="R2fbb6ac3d0dc4332" /><Relationship Type="http://schemas.openxmlformats.org/officeDocument/2006/relationships/image" Target="/ppt/media/image6.jpeg" Id="R8c02ce65f2ee4d33" /><Relationship Type="http://schemas.openxmlformats.org/officeDocument/2006/relationships/notesSlide" Target="/ppt/notesSlides/notesSlide4.xml" Id="R6088683e465c46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72ea464ee499e" /><Relationship Type="http://schemas.openxmlformats.org/officeDocument/2006/relationships/image" Target="/ppt/media/image2.png" Id="Rfd48861536094eea" /><Relationship Type="http://schemas.openxmlformats.org/officeDocument/2006/relationships/notesSlide" Target="/ppt/notesSlides/notesSlide5.xml" Id="R6bcfa4329d1740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2453afdf74419" /><Relationship Type="http://schemas.openxmlformats.org/officeDocument/2006/relationships/image" Target="/ppt/media/image3.png" Id="R6bd5656b9ff64edb" /><Relationship Type="http://schemas.openxmlformats.org/officeDocument/2006/relationships/notesSlide" Target="/ppt/notesSlides/notesSlide6.xml" Id="R2981bb055abe42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aa7e9513a469e" /><Relationship Type="http://schemas.openxmlformats.org/officeDocument/2006/relationships/image" Target="/ppt/media/image4.png" Id="R8a3d75ebb4f34205" /><Relationship Type="http://schemas.openxmlformats.org/officeDocument/2006/relationships/notesSlide" Target="/ppt/notesSlides/notesSlide7.xml" Id="R6d1b5a25bf3343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11975774e40b7" /><Relationship Type="http://schemas.openxmlformats.org/officeDocument/2006/relationships/image" Target="/ppt/media/image5.png" Id="R058c3e529a2640f8" /><Relationship Type="http://schemas.openxmlformats.org/officeDocument/2006/relationships/notesSlide" Target="/ppt/notesSlides/notesSlide8.xml" Id="R78b20e315e024d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164c62e424399" /><Relationship Type="http://schemas.openxmlformats.org/officeDocument/2006/relationships/notesSlide" Target="/ppt/notesSlides/notesSlide9.xml" Id="Rd8c89030fd804f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956c01a884631" /><Relationship Type="http://schemas.openxmlformats.org/officeDocument/2006/relationships/notesSlide" Target="/ppt/notesSlides/notesSlide10.xml" Id="Re621f27d04c34b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3c4b00d514b14" /><Relationship Type="http://schemas.openxmlformats.org/officeDocument/2006/relationships/image" Target="/ppt/media/image6.png" Id="R005f9f8353ab4082" /><Relationship Type="http://schemas.openxmlformats.org/officeDocument/2006/relationships/notesSlide" Target="/ppt/notesSlides/notesSlide11.xml" Id="Rd30e56a379704b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99ccf2ce94dd3" /><Relationship Type="http://schemas.openxmlformats.org/officeDocument/2006/relationships/image" Target="/ppt/media/image7.png" Id="R91f545e21cbd4a40" /><Relationship Type="http://schemas.openxmlformats.org/officeDocument/2006/relationships/notesSlide" Target="/ppt/notesSlides/notesSlide12.xml" Id="R0ea1efd2b61b42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6eb410d924e98" /><Relationship Type="http://schemas.openxmlformats.org/officeDocument/2006/relationships/image" Target="/ppt/media/image8.png" Id="R8f6bb948ed9b4a92" /><Relationship Type="http://schemas.openxmlformats.org/officeDocument/2006/relationships/notesSlide" Target="/ppt/notesSlides/notesSlide13.xml" Id="R410f937d03d5479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e67be7f214e09" /><Relationship Type="http://schemas.openxmlformats.org/officeDocument/2006/relationships/image" Target="/ppt/media/image9.png" Id="R148e77c4b8144a72" /><Relationship Type="http://schemas.openxmlformats.org/officeDocument/2006/relationships/notesSlide" Target="/ppt/notesSlides/notesSlide14.xml" Id="Rb9e546b64db747a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5fc28c07448ea" /><Relationship Type="http://schemas.openxmlformats.org/officeDocument/2006/relationships/image" Target="/ppt/media/image10.png" Id="Rcf9d186af95c4cf4" /><Relationship Type="http://schemas.openxmlformats.org/officeDocument/2006/relationships/notesSlide" Target="/ppt/notesSlides/notesSlide15.xml" Id="Rc3832da6daac49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2353B-6996-4437-BF59-DE083093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f7d4d248048ef"/>
          <a:srcRect xmlns:a="http://schemas.openxmlformats.org/drawingml/2006/main" l="0" t="8673" r="0" b="86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0"/>
            <a:ext cx="46672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F49CC-0716-4324-9B25-3A5E8DB6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RESEARCH BRIEFING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1D9CE-66A5-4BB5-93AE-FA287D17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5100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AI 뇌 인코딩 모델 기반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5100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군 영상 사전진단 연구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FCFEE-8802-4937-BE2E-12B37B7B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육사TV 쇼츠 4편 적용과 군 영상 제작 발전방안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27BAF-F609-42D6-A170-BBCB8C2E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87F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236F1-0522-49AD-B124-E299225B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육군사관학교 장병가치문화연구센터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CECB3-81CA-4ADB-8919-2F394EBF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소령 임현명 · 병장 이재우 · 일병 김현준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A8441-2030-43D3-A8BE-C6B326EA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군 영상을 먼저 AI에게 보여주고, 더 잘 전달되도록 고친 뒤 게시합니다.</a:t>
            </a:r>
          </a:p>
        </p:txBody>
      </p:sp>
    </p:spTree>
    <p:extLst>
      <p:ext uri="{BB962C8B-B14F-4D97-AF65-F5344CB8AC3E}">
        <p14:creationId xmlns:p14="http://schemas.microsoft.com/office/powerpoint/2010/main" val="8649789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948F83-62AD-42B5-A94D-6B4EB4D6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AE69D-2A34-4457-B9D4-579385EB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WHY THIS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39B66-65EB-4D12-BDE2-9992C996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조회수는 결과, AI는 수정 방향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0DAA9-BA4B-44B2-8F7F-379CD888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33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CC39B-D263-4988-921F-F0C4CDC7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095750" cy="4914900"/>
          </a:xfrm>
          <a:prstGeom xmlns:a="http://schemas.openxmlformats.org/drawingml/2006/main" prst="roundRect">
            <a:avLst>
              <a:gd name="adj" fmla="val 13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1E6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81ba577c44331"/>
          <a:srcRect xmlns:a="http://schemas.openxmlformats.org/drawingml/2006/main" l="0" t="16250" r="0" b="16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257300"/>
            <a:ext cx="4095750" cy="4914900"/>
          </a:xfrm>
          <a:prstGeom xmlns:a="http://schemas.openxmlformats.org/drawingml/2006/main" prst="roundRect">
            <a:avLst>
              <a:gd name="adj" fmla="val 139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A2151-344B-44CC-A1A4-CAB3FB03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3811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게시 후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2D7E1-57A0-44E0-AA51-9D6D1826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6954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조회수 · 좋아요 · 댓글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5E7E5-0C26-4CA8-8CB3-4FB14A98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33625"/>
            <a:ext cx="607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1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FE7F6-A1DB-465D-B545-2FCA7F0F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90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게시 전에 알고 싶은 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55434-E493-4B8E-9771-7863FA0C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48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A8BF3-4FE3-4FDA-A4E8-17C7610F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194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어느 장면이 눈에 들어오는가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8FE1D-407C-4EA2-940E-F17E89FF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432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핵심 장면의 시각적 구분을 확인합니다.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16963-C2A0-4DE1-B511-3E67E323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905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B9EB8-E5A1-419F-A3B5-8E169B60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766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화면과 소리가 맞물리는가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81211-AF46-4211-9262-600DF9E4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2005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영상·음향·언어가 같은 메시지를 지원하는지 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3521A3-B379-48B7-97D6-D8D38E1A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EAAC58-3915-4DA2-B099-304B9E61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339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어느 시안이 더 뚜렷한가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686AA6-A4A2-4E5E-8194-CD1D0EDB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577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복수 편집안을 같은 기준으로 비교합니다.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95C094-9284-4B4A-88AB-783F1B93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715000"/>
            <a:ext cx="6172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ED7B3A-1330-4B0F-8206-9FFE3AB3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8483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판단 시점을 게시 이후에서 제작 단계로 당깁니다.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DEE94B-63C4-498C-AC5A-48FDB9B4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1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D9E614-1772-45CD-B344-FA30724C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육군사관학교 장병가치문화연구센터</a:t>
            </a:r>
          </a:p>
        </p:txBody>
      </p:sp>
    </p:spTree>
    <p:extLst>
      <p:ext uri="{BB962C8B-B14F-4D97-AF65-F5344CB8AC3E}">
        <p14:creationId xmlns:p14="http://schemas.microsoft.com/office/powerpoint/2010/main" val="8662231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5A586-B563-4E58-93A4-0EF91EA3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2CEC3-D654-4876-BE0F-4F249BFF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HOW IT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1B6C4-48A4-4C20-B2D4-E3702AC7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TRIBE v2가 영상을 뇌 지도로 바꿉니다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B46C1-927D-4C6F-B8B3-8C5DC082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33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9F55F-2187-4275-BE58-E3BD7B6C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영상 · 음향 · 언어  →  AI 분석  →  예상 피질 반응 지도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857b97fa4454e"/>
          <a:stretch xmlns:a="http://schemas.openxmlformats.org/drawingml/2006/main"/>
        </p:blipFill>
        <p:spPr>
          <a:xfrm xmlns:a="http://schemas.openxmlformats.org/drawingml/2006/main">
            <a:off x="2000250" y="1410459"/>
            <a:ext cx="8172450" cy="504673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5ABEE-85EF-4F3E-97D4-D17722B2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19275"/>
            <a:ext cx="38481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87F8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BE2AC-8D45-4DDA-9DE3-182EC2BD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534150"/>
            <a:ext cx="3524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Source: d'Ascoli et al. (2026), Figure 1</a:t>
            </a:r>
          </a:p>
        </p:txBody>
      </p:sp>
    </p:spTree>
    <p:extLst>
      <p:ext uri="{BB962C8B-B14F-4D97-AF65-F5344CB8AC3E}">
        <p14:creationId xmlns:p14="http://schemas.microsoft.com/office/powerpoint/2010/main" val="7835738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DA795D-6A06-4D8F-A381-39B4240E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48387-E58D-4249-A413-93369ED9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FOUR-VIDEO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5CEA1-E554-4B97-9BDF-111266CE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육사TV 쇼츠 4편을 분석했습니다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847E9-597F-4479-8BCF-2F11DE5E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33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2A716-42FB-4A13-9A79-C712DDD4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5219700" cy="1752600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1E6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ad5f723914ea6"/>
          <a:srcRect xmlns:a="http://schemas.openxmlformats.org/drawingml/2006/main" l="0" t="20154" r="0" b="201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314450"/>
            <a:ext cx="5219700" cy="1752600"/>
          </a:xfrm>
          <a:prstGeom xmlns:a="http://schemas.openxmlformats.org/drawingml/2006/main" prst="roundRect">
            <a:avLst>
              <a:gd name="adj" fmla="val 326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86A22-BBFF-4B8D-A3DF-A39A5771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452B6-E4F9-45B4-AE9A-988009DD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육사 3학년 생도 공수훈련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28B59-7B14-4360-BE71-29514F67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718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D45A5A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D45A5A"/>
                </a:solidFill>
                <a:latin typeface="Pretendard"/>
                <a:ea typeface="Pretendard"/>
                <a:cs typeface="Pretendard"/>
              </a:rPr>
              <a:t>697,770회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B0F44-1DBC-403E-9B4F-FB2B1DFC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고조회수 영상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C7DEDE-9954-4222-88A5-814FB482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14450"/>
            <a:ext cx="5219700" cy="1752600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1E6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7b3860d204da2"/>
          <a:srcRect xmlns:a="http://schemas.openxmlformats.org/drawingml/2006/main" l="0" t="20154" r="0" b="201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1314450"/>
            <a:ext cx="5219700" cy="1752600"/>
          </a:xfrm>
          <a:prstGeom xmlns:a="http://schemas.openxmlformats.org/drawingml/2006/main" prst="roundRect">
            <a:avLst>
              <a:gd name="adj" fmla="val 3261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CD0AE3-5D1F-4865-83A4-F9658563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623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E38AF7-4623-4C05-A69A-0A2382C9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62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2학기 첫 단체학과출장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B228D5-E0C8-4551-B1BE-AD41F85B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718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D45A5A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D45A5A"/>
                </a:solidFill>
                <a:latin typeface="Pretendard"/>
                <a:ea typeface="Pretendard"/>
                <a:cs typeface="Pretendard"/>
              </a:rPr>
              <a:t>375,605회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76AEE-C898-4C99-923F-874377DF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67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고조회수 영상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07AF25-ABA4-4EC4-8E57-42E9B9E6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5219700" cy="1752600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1E6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b6ac3d0dc4332"/>
          <a:srcRect xmlns:a="http://schemas.openxmlformats.org/drawingml/2006/main" l="0" t="20154" r="0" b="201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3905250"/>
            <a:ext cx="5219700" cy="1752600"/>
          </a:xfrm>
          <a:prstGeom xmlns:a="http://schemas.openxmlformats.org/drawingml/2006/main" prst="roundRect">
            <a:avLst>
              <a:gd name="adj" fmla="val 3261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1BEBC7-4D1F-4D6C-AD26-B4581EFF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DC60E1-43C2-4D84-B51A-4A27661D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생도들의 산타 봉사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E0C980-3CD4-4C1A-BBCB-EB092AED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7626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2,352회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489FB9-9A0B-4D07-A0E0-8D129BD9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579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저조회수 영상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F8B56E-A1F5-4A3D-B0E9-A30931A6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0"/>
            <a:ext cx="5219700" cy="1752600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1E6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2ce65f2ee4d33"/>
          <a:srcRect xmlns:a="http://schemas.openxmlformats.org/drawingml/2006/main" l="0" t="20154" r="0" b="201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3905250"/>
            <a:ext cx="5219700" cy="1752600"/>
          </a:xfrm>
          <a:prstGeom xmlns:a="http://schemas.openxmlformats.org/drawingml/2006/main" prst="roundRect">
            <a:avLst>
              <a:gd name="adj" fmla="val 3261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F445E9-B016-49CF-AFF1-E109167F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7531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D557DE-2146-4C3E-9C1E-430C0460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7531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화랑대 드론교실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637BD7-362D-42ED-85D0-E611478C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626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2,369회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147EEA-1123-4663-82C4-1DD7E178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0579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저조회수 영상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D5D2AC-B048-4972-9A49-10640B65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1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4289D1-D622-49A7-9847-059F2F51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영상 원본·메타데이터 → TRIBE v2 → 전체 피질 지도 → 6개 예상 반응 특성</a:t>
            </a:r>
          </a:p>
        </p:txBody>
      </p:sp>
    </p:spTree>
    <p:extLst>
      <p:ext uri="{BB962C8B-B14F-4D97-AF65-F5344CB8AC3E}">
        <p14:creationId xmlns:p14="http://schemas.microsoft.com/office/powerpoint/2010/main" val="14909891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E8411-B559-47A5-AA4E-BF4C1F4A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D38B7-768E-4345-BE5F-1EA99B50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WHAT WE OBTAINED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AEE40-355F-4C61-B8B1-89C23CEF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영상마다 다른 예상 반응이 나왔습니다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FC002-8901-45D5-8312-D75B1BA8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33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8861536094eea"/>
          <a:stretch xmlns:a="http://schemas.openxmlformats.org/drawingml/2006/main"/>
        </p:blipFill>
        <p:spPr>
          <a:xfrm xmlns:a="http://schemas.openxmlformats.org/drawingml/2006/main">
            <a:off x="495300" y="1360587"/>
            <a:ext cx="11201400" cy="341292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7D921-81D5-4353-A35E-9C34B6CB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1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AB1E8-B0A8-4334-91C8-C5E36A16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같은 형식으로 산출하면 영상 간 차이와 수정 전후 변화를 바로 비교할 수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BD4F3-79C6-4747-9589-7C9CC5B0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817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네 방향 피질 지도 · 예상 반응 크기 · 종합 반응 지표 · 6개 예상 반응 특성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99EE9-295A-4774-9B59-4A6445C0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1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53E36-12CE-466A-A2D7-D1941570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육군사관학교 장병가치문화연구센터</a:t>
            </a:r>
          </a:p>
        </p:txBody>
      </p:sp>
    </p:spTree>
    <p:extLst>
      <p:ext uri="{BB962C8B-B14F-4D97-AF65-F5344CB8AC3E}">
        <p14:creationId xmlns:p14="http://schemas.microsoft.com/office/powerpoint/2010/main" val="8995362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0B9D6-303F-4451-A3B3-126DD0B7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F7A95-E67C-4041-90B0-00BFBB78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KEY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02707-854E-4B0B-AFEB-29B3D3A9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고조회수 영상은 예상 반응도 컸습니다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60FD7-D7F0-427A-9180-5A883D10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33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5656b9ff64edb"/>
          <a:stretch xmlns:a="http://schemas.openxmlformats.org/drawingml/2006/main"/>
        </p:blipFill>
        <p:spPr>
          <a:xfrm xmlns:a="http://schemas.openxmlformats.org/drawingml/2006/main">
            <a:off x="438150" y="1277657"/>
            <a:ext cx="7924800" cy="481703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EE5D9-5C24-4FF1-BE02-8F1B2859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906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1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3CC80-9B2E-465E-9204-B9F4F7CA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430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5625" b="1">
                <a:solidFill>
                  <a:srgbClr val="D45A5A"/>
                </a:solidFill>
                <a:latin typeface="Pretendard"/>
                <a:ea typeface="Pretendard"/>
                <a:cs typeface="Pretendard"/>
              </a:defRPr>
            </a:pPr>
            <a:r>
              <a:rPr sz="5625" b="1">
                <a:solidFill>
                  <a:srgbClr val="D45A5A"/>
                </a:solidFill>
                <a:latin typeface="Pretendard"/>
                <a:ea typeface="Pretendard"/>
                <a:cs typeface="Pretendard"/>
              </a:rPr>
              <a:t>+42%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55F2D-3063-4109-9C39-2617377B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예상 반응 크기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BEFAE-94AE-4C70-8470-D03F7A2F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908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0.151 대 0.107</a:t>
            </a:r>
          </a:p>
          <a:p xmlns:a="http://schemas.openxmlformats.org/drawingml/2006/main">
            <a:pPr algn="l">
              <a:defRPr sz="135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고조회수군 평균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B2D79-3667-4B6C-941B-8332CDF8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29000"/>
            <a:ext cx="262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1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5FD49D-36C4-40BF-BBA1-6AC2246D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14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562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562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2.0×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0843C-B241-4974-B290-D1B8BCDE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577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종합 반응 지표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BABED-56F8-4F4F-B24F-4C3C3508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625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0.767 대 0.375</a:t>
            </a:r>
          </a:p>
          <a:p xmlns:a="http://schemas.openxmlformats.org/drawingml/2006/main">
            <a:pPr algn="l">
              <a:defRPr sz="135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고조회수군 평균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C4BAE-5ED7-4787-BA36-6D0F9711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912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1384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21384A"/>
                </a:solidFill>
                <a:latin typeface="Pretendard"/>
                <a:ea typeface="Pretendard"/>
                <a:cs typeface="Pretendard"/>
              </a:rPr>
              <a:t>조회수 차이가 뇌 형상과 6개 반응 특성에서도 같은 방향으로 나타났습니다.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28DFB6-E790-426B-BFD4-5DF3B324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1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D40825-A908-4063-BB1F-C0501D91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육군사관학교 장병가치문화연구센터</a:t>
            </a:r>
          </a:p>
        </p:txBody>
      </p:sp>
    </p:spTree>
    <p:extLst>
      <p:ext uri="{BB962C8B-B14F-4D97-AF65-F5344CB8AC3E}">
        <p14:creationId xmlns:p14="http://schemas.microsoft.com/office/powerpoint/2010/main" val="17496568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4D33A1-D44B-44E8-8A0B-4109CD68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7DF37-E54A-41C3-B029-6282A1F0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HOW TO READ THE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F6436-62D9-4756-AF14-625C7716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차이를 6가지 반응 특성으로 읽습니다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BBCB6-E694-4226-A210-278967CC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33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3d75ebb4f34205"/>
          <a:stretch xmlns:a="http://schemas.openxmlformats.org/drawingml/2006/main"/>
        </p:blipFill>
        <p:spPr>
          <a:xfrm xmlns:a="http://schemas.openxmlformats.org/drawingml/2006/main">
            <a:off x="1121664" y="1257300"/>
            <a:ext cx="9948672" cy="51816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4DDB2-3961-444C-A6A1-D6BCD159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1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ADD76-9D3F-44DB-A0C3-1A539E63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보상 · 회피 · 사회적 가치 · 참여 · 시각 처리 · 청각 처리</a:t>
            </a:r>
          </a:p>
        </p:txBody>
      </p:sp>
    </p:spTree>
    <p:extLst>
      <p:ext uri="{BB962C8B-B14F-4D97-AF65-F5344CB8AC3E}">
        <p14:creationId xmlns:p14="http://schemas.microsoft.com/office/powerpoint/2010/main" val="17297158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EEB1C-C9AC-41E7-B80D-45C8FC5A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2FAFD-1355-4F31-BD40-DA5F4CF3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SCALE-UP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7BDA8-587F-453C-A579-2D75247D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KFN 240편에서도 유형별 차이가 났습니다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D5C3E-590D-40A2-99F7-325E4497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33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c3e529a2640f8"/>
          <a:stretch xmlns:a="http://schemas.openxmlformats.org/drawingml/2006/main"/>
        </p:blipFill>
        <p:spPr>
          <a:xfrm xmlns:a="http://schemas.openxmlformats.org/drawingml/2006/main">
            <a:off x="1048435" y="1200150"/>
            <a:ext cx="10095131" cy="5048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7DDBF-68B8-4497-A914-96FB3A89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579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240편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2C5D2-3F85-4535-9C80-F89FB26F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0579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8개 콘텐츠 유형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601D9-BAB8-4A78-AB9F-8AE4B806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579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6개 특성 모두 유형별 차이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396CD-C14B-4F6B-9A90-46C20C1F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1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BC025-0B8A-438B-9066-E15BC54E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육군사관학교 장병가치문화연구센터</a:t>
            </a:r>
          </a:p>
        </p:txBody>
      </p:sp>
    </p:spTree>
    <p:extLst>
      <p:ext uri="{BB962C8B-B14F-4D97-AF65-F5344CB8AC3E}">
        <p14:creationId xmlns:p14="http://schemas.microsoft.com/office/powerpoint/2010/main" val="4125291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D642CB-F8F1-490F-8C6B-B0615B63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BAAD4-8B5E-41D0-9EA5-8E7CBE18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MILITARY APPLICATION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71516-085B-443D-B5D4-933BB49B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군 영상 제작을 비교·수정 방식으로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77279-2D21-4D15-A894-AEEB69C7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33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C49C5-0E74-437D-82C8-58B6EE80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764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85BBE-118B-46B8-AFC8-72ED3B6E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764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11DF8-42D7-45AE-A7F3-772B563C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764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43500-B9B8-4F50-8413-AF8E8F2D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764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082B5-0416-4999-9CEC-AD7B5A12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9FDCE-3A87-4848-BD87-BE408C39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시안 A·B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A1645-1EC9-403F-893E-80F7463E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복수 편집안 제작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C85F7-430F-4C23-9C2D-C1F9AD1D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002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004D0-16EB-4B80-A1FE-8E73CB56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431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AI 비교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2D933-1BC6-4147-85EA-1107A0FC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003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예상 반응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40F421-9029-452D-AC7A-89FA3097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002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50137-DE1D-4797-BBC2-A75C3DF4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431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집중 수정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201EC-8B2F-4C78-B1D9-9F9EA249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003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장면·음향·메시지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68F075-D70F-4150-90F6-B7272761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002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7DC19B-FBA3-433C-9EB5-24159929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431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최종안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530F2A-76B6-4434-A747-290E168F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003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전문가 공동검토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6FE144-60B5-4B7D-B9B4-A1DB36AF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6002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C60FD6-6C34-4223-B0BE-EE340A63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431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게시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3AB715-BD6E-452D-A24C-4A130776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003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성과자료 축적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92DAB4-00A4-4CF3-93DB-CE938840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1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6DBA3F-7A6F-4083-A8AA-5F98E7DB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활용 분야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EDBB6C-2BA4-49AF-BB0C-879A41D4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AD8E4C-6521-406A-853A-BA43FBC6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정신전력교육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B78138-58C3-4C01-915A-DF6B9567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243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핵심 메시지 구간 점검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03CE0D-A2A6-43D2-9ED2-22B8C071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67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B2950C-4178-40E5-B1DA-6EC10201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00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훈련·전투준비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C82F10-2754-4B60-B5EF-BD009660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243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화면과 음향 균형 비교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C2AF97-0DA7-49A3-8F39-6974EFF7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C4CE96-EAAB-4E67-8466-2FD1A2FC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62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모집홍보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76450B-8069-4A12-B821-BF57AB4E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863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인물·공동체 표현 비교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056E0F-3823-49C8-AB06-E8BDB68F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29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9BF312-14AA-4439-9994-B3928009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62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국방홍보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13FD4E-85C5-44DD-B705-3AB6A666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863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여러 편집안 중 최종 후보 선정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2A00FC-EEC6-42EF-98C6-D92F5762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95950"/>
            <a:ext cx="8763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156949-853B-40E5-91FF-B6CDE2E0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848350"/>
            <a:ext cx="826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AI 비교 결과로 더 좋은 시안을 고르고, 고칠 장면을 빠르게 결정합니다.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4CFA27-2C6B-4C4C-B1E7-922CFB8C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1E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1C8988-D56B-452C-96B3-570D0A9B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육군사관학교 장병가치문화연구센터</a:t>
            </a:r>
          </a:p>
        </p:txBody>
      </p:sp>
    </p:spTree>
    <p:extLst>
      <p:ext uri="{BB962C8B-B14F-4D97-AF65-F5344CB8AC3E}">
        <p14:creationId xmlns:p14="http://schemas.microsoft.com/office/powerpoint/2010/main" val="5236443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4E635B-7472-4EBF-B805-AEFC2180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C049B-5676-44B6-9C01-8BBDFEC7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RESEARCH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75C21-54A4-454D-9075-7DC6D56B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육군지에서 KCI·SCI로 발전합니다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2B168-3F9A-419F-9659-3787902C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33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EEE1F-6DD7-4E3A-8CAE-92EDE16C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29BC7-1EEF-41F0-91AA-FBE7066D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육군지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0BD6B-5F9F-4B70-A689-912EF0AA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87F8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3289F-4FEF-4FDE-8FFB-D42EC789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기술과 군 활용 소개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54D7F-3EC9-42CF-8D1A-D43EC130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육사TV 쇼츠 4편 분석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예상 반응 지도와 적용사례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5EFCB-FB45-4CD0-B1E2-BE6BAF45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240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1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7C20F-58E6-440B-AEA3-E21870A7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02C55-DED0-4B07-B7CA-8FFEFE31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KCI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6AA96-122A-4F8A-B542-74A1E9FB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87F8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F0504-F4B2-4E84-A033-2340D067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사전진단 절차 정립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209061-F3D4-4D54-AEBC-72AA6D7F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정신전력 영상 제작 절차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전문가 검토·효과평가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1A5558-B4AE-44C2-9F82-561D7AE8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240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1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D0E7C-EA2D-474D-A2AB-99AE8454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287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16287A-598F-4459-B16D-97DED9F8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907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SCI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D581E5-82D3-48E0-B32F-8419DD24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45A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615FC3-68AB-49B1-8736-D97BC3A8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67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대규모 성과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D4D2F2-2B5A-4984-BE6F-2C1F9E16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KFN·해외 영상 확대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성과자료와 예상 반응 연결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9F1F4-2D89-4FEB-AC6E-6DF2BCA7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20400" cy="10858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CE1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2108E2-3454-418A-B791-313080CA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연구대장 지원 요청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EB3A1D-FFE7-43D7-AB31-7A69115B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연구방향 승인  ·  전문가 검토  ·  YouTube Studio 자료 연계  ·  GPU 지속 활용  ·  KCI·SCI 투고 지원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68DA54-CB33-4142-B500-F9AD1F4A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384A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21384A"/>
                </a:solidFill>
                <a:latin typeface="Pretendard"/>
                <a:ea typeface="Pretendard"/>
                <a:cs typeface="Pretendard"/>
              </a:rPr>
              <a:t>군 영상의 가치와 메시지를 게시 전에 더 정확하게 다듬습니다.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FE5797-1F6E-422C-ACCF-F4681BC1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1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2E6DDF-4523-4F84-8112-1D731409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육군사관학교 장병가치문화연구센터</a:t>
            </a:r>
          </a:p>
        </p:txBody>
      </p:sp>
    </p:spTree>
    <p:extLst>
      <p:ext uri="{BB962C8B-B14F-4D97-AF65-F5344CB8AC3E}">
        <p14:creationId xmlns:p14="http://schemas.microsoft.com/office/powerpoint/2010/main" val="8911686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686788-11C7-464E-8970-5CC2F178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11BD9-0147-47AC-9BE6-EF015CFD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8AA6C-46E3-4A9B-B4E0-1B27E964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육사TV 쇼츠 4편 전체 결과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7B175-7882-4B2E-B31B-1EC8CFAA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33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f9f8353ab4082"/>
          <a:stretch xmlns:a="http://schemas.openxmlformats.org/drawingml/2006/main"/>
        </p:blipFill>
        <p:spPr>
          <a:xfrm xmlns:a="http://schemas.openxmlformats.org/drawingml/2006/main">
            <a:off x="1609952" y="1200150"/>
            <a:ext cx="4628696" cy="5143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ECA40-2EC3-4F2F-8AAA-73C109D9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240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동일한 분석 형식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9257D-2882-47EB-847F-98E89EA4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14550"/>
            <a:ext cx="3524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공수훈련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단체학과출장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산타 봉사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드론교실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각 영상별 전체 피질 지도와 6개 예상 반응 특성을 저장했습니다.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48002-8081-4FE0-9718-505F26D6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1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6F347-5F92-485E-9D1B-174C765C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육군사관학교 장병가치문화연구센터</a:t>
            </a:r>
          </a:p>
        </p:txBody>
      </p:sp>
    </p:spTree>
    <p:extLst>
      <p:ext uri="{BB962C8B-B14F-4D97-AF65-F5344CB8AC3E}">
        <p14:creationId xmlns:p14="http://schemas.microsoft.com/office/powerpoint/2010/main" val="6933260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4094C-3EE5-4F19-88F0-F3504FCF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6ED98-88C2-4F4E-B4CB-C59E998C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E8CBD-EA1A-47DE-A525-E38CD59C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TRIBE v2: 새로운 영상 적용 근거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11AD0-67FE-4A35-8B5E-E9ED151A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33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f545e21cbd4a40"/>
          <a:stretch xmlns:a="http://schemas.openxmlformats.org/drawingml/2006/main"/>
        </p:blipFill>
        <p:spPr>
          <a:xfrm xmlns:a="http://schemas.openxmlformats.org/drawingml/2006/main">
            <a:off x="2196760" y="1181100"/>
            <a:ext cx="7798480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19FB6-EA67-4963-A638-0F71CB50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72250"/>
            <a:ext cx="485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Source: d'Ascoli et al. (2026), Figure 3</a:t>
            </a:r>
          </a:p>
        </p:txBody>
      </p:sp>
    </p:spTree>
    <p:extLst>
      <p:ext uri="{BB962C8B-B14F-4D97-AF65-F5344CB8AC3E}">
        <p14:creationId xmlns:p14="http://schemas.microsoft.com/office/powerpoint/2010/main" val="8750664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7BFDA-F6E7-4603-A970-82F08BEE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CC251-9F0E-4D92-A056-95F1AAEE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B757C-ADA2-49DB-A14A-A0ABEA41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TRIBE v2: 영상·음향·언어 통합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1278E-6ED8-46D8-A1C3-CD15BFCB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33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bb948ed9b4a92"/>
          <a:stretch xmlns:a="http://schemas.openxmlformats.org/drawingml/2006/main"/>
        </p:blipFill>
        <p:spPr>
          <a:xfrm xmlns:a="http://schemas.openxmlformats.org/drawingml/2006/main">
            <a:off x="1963051" y="1181100"/>
            <a:ext cx="8265897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DF905-A442-4C01-8D49-627C919F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72250"/>
            <a:ext cx="485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Source: d'Ascoli et al. (2026), Figure 7</a:t>
            </a:r>
          </a:p>
        </p:txBody>
      </p:sp>
    </p:spTree>
    <p:extLst>
      <p:ext uri="{BB962C8B-B14F-4D97-AF65-F5344CB8AC3E}">
        <p14:creationId xmlns:p14="http://schemas.microsoft.com/office/powerpoint/2010/main" val="7596928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375AF-420D-4B99-BD06-F18015B5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AD36D-352A-43F3-9233-9CC62FF0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D1AB3-72CB-4DEF-A152-F41F0EF6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KFN 240편 카테고리 전체 분석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8A462-F764-46EA-ADD1-40BE2367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33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e77c4b8144a72"/>
          <a:stretch xmlns:a="http://schemas.openxmlformats.org/drawingml/2006/main"/>
        </p:blipFill>
        <p:spPr>
          <a:xfrm xmlns:a="http://schemas.openxmlformats.org/drawingml/2006/main">
            <a:off x="1302261" y="1200150"/>
            <a:ext cx="5244078" cy="5143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A0BD8-3615-42EE-8F44-4F66769D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240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8개 유형 × 6개 특성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F0BEC-1E73-4806-B018-86726584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14550"/>
            <a:ext cx="3524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각 유형 30편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총 240편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6개 예상 반응 특성 모두 콘텐츠 유형별 차이를 보였습니다.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606F9-0079-4EDC-BE48-BD56B917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1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005DE-D447-4BE8-A354-DB032869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육군사관학교 장병가치문화연구센터</a:t>
            </a:r>
          </a:p>
        </p:txBody>
      </p:sp>
    </p:spTree>
    <p:extLst>
      <p:ext uri="{BB962C8B-B14F-4D97-AF65-F5344CB8AC3E}">
        <p14:creationId xmlns:p14="http://schemas.microsoft.com/office/powerpoint/2010/main" val="19105146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66CC1-D150-4A12-AE59-6C9FC11B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7F0BE-EF43-48EE-857F-153CCEAC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87F8C"/>
                </a:solidFill>
                <a:latin typeface="Pretendard"/>
                <a:ea typeface="Pretendard"/>
                <a:cs typeface="Pretendard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6C3D8-A612-4402-8736-B0DD41E6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한국 및 7개국 군 영상 프로필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B670D-E2E3-4EA9-A409-974F8330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33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d186af95c4cf4"/>
          <a:stretch xmlns:a="http://schemas.openxmlformats.org/drawingml/2006/main"/>
        </p:blipFill>
        <p:spPr>
          <a:xfrm xmlns:a="http://schemas.openxmlformats.org/drawingml/2006/main">
            <a:off x="495300" y="1338416"/>
            <a:ext cx="6858000" cy="486696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4241A-59FD-4C35-AE15-21D1EF4C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240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0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820"/>
                </a:solidFill>
                <a:latin typeface="Pretendard"/>
                <a:ea typeface="Pretendard"/>
                <a:cs typeface="Pretendard"/>
              </a:rPr>
              <a:t>확장 분석 기반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B15D7-863D-408C-B663-3761746D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14550"/>
            <a:ext cx="3524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KFN/KFNplus 240편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7개국 공식 군 채널 311편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대규모 SCI 분석을 위한 군 영상 추론·비교 기반을 확보했습니다.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1EA74-1D6F-4A6A-BDE8-74C2DC26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1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95A1D-679A-40CB-AAF2-9A125AE6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26B75"/>
                </a:solidFill>
                <a:latin typeface="Pretendard"/>
                <a:ea typeface="Pretendard"/>
                <a:cs typeface="Pretendard"/>
              </a:rPr>
              <a:t>육군사관학교 장병가치문화연구센터</a:t>
            </a:r>
          </a:p>
        </p:txBody>
      </p:sp>
    </p:spTree>
    <p:extLst>
      <p:ext uri="{BB962C8B-B14F-4D97-AF65-F5344CB8AC3E}">
        <p14:creationId xmlns:p14="http://schemas.microsoft.com/office/powerpoint/2010/main" val="8024946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2026-07-21T06:02:21.7020000Z</dcterms:created>
  <dcterms:modified xsi:type="dcterms:W3CDTF">2026-07-21T06:02:21.7020000Z</dcterms:modified>
</coreProperties>
</file>